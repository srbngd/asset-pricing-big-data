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7202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2720429"/>
            <a:ext cx="7124700" cy="9525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7560"/>
              </a:lnSpc>
            </a:pPr>
            <a:r>
              <a:rPr lang="en-US" sz="6750" kern="0" spc="-203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Targeting Alpha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" y="3762226"/>
            <a:ext cx="6904348" cy="247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2016"/>
              </a:lnSpc>
              <a:spcBef>
                <a:spcPts val="689"/>
              </a:spcBef>
            </a:pPr>
            <a:r>
              <a:rPr lang="en-US" sz="144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High-Probability Stock Selection via Big Data Classification &amp; MLOps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76250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7250" y="6139160"/>
            <a:ext cx="3851908" cy="1905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512"/>
              </a:lnSpc>
            </a:pPr>
            <a:r>
              <a:rPr lang="en-US" sz="120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Big Data Analytics &amp; MLOps using Hive/Spark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7250" y="6432054"/>
            <a:ext cx="3600450" cy="1809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28"/>
              </a:lnSpc>
              <a:spcBef>
                <a:spcPts val="791"/>
              </a:spcBef>
            </a:pPr>
            <a:r>
              <a:rPr lang="en-US" sz="102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Final Project Presentation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376238"/>
            <a:ext cx="9715500" cy="10668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00"/>
              </a:lnSpc>
            </a:pPr>
            <a:r>
              <a:rPr lang="en-US" sz="3750" kern="0" spc="-113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Executive Summary: A Paradigm Shift in</a:t>
            </a:r>
            <a:br>
              <a:rPr lang="en-US" sz="3750" kern="0" spc="-113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</a:br>
            <a:r>
              <a:rPr lang="en-US" sz="3750" kern="0" spc="-113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Market Prediction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0" y="3019425"/>
            <a:ext cx="2667000" cy="2109788"/>
          </a:xfrm>
          <a:prstGeom prst="rect">
            <a:avLst/>
          </a:prstGeom>
          <a:noFill/>
          <a:ln w="25400">
            <a:solidFill>
              <a:srgbClr val="62A8BB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3511748"/>
            <a:ext cx="2286000" cy="247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66"/>
              </a:lnSpc>
            </a:pPr>
            <a:r>
              <a:rPr lang="en-US" sz="156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Challenge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40956"/>
            <a:ext cx="2407692" cy="10477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30"/>
              </a:spcBef>
            </a:pP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Standard regression models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struggle with extreme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market noise, failing to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accurately forecast price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returns.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500188" y="2662238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790A3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376" y="2856179"/>
            <a:ext cx="371475" cy="3333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33750" y="3019425"/>
            <a:ext cx="2667000" cy="2109788"/>
          </a:xfrm>
          <a:prstGeom prst="rect">
            <a:avLst/>
          </a:prstGeom>
          <a:noFill/>
          <a:ln w="25400">
            <a:solidFill>
              <a:srgbClr val="488CAB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19500" y="3511748"/>
            <a:ext cx="2286000" cy="247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66"/>
              </a:lnSpc>
            </a:pPr>
            <a:r>
              <a:rPr lang="en-US" sz="156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Solution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619500" y="3840956"/>
            <a:ext cx="2377819" cy="10477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30"/>
              </a:spcBef>
            </a:pP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Pivoted to Binary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Classification (Event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Detection) leveraging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Apache Spark for enhanced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prediction capabilities.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357688" y="2662238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96F87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3489" y="2843621"/>
            <a:ext cx="247650" cy="35242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191250" y="3019425"/>
            <a:ext cx="2667000" cy="2109788"/>
          </a:xfrm>
          <a:prstGeom prst="rect">
            <a:avLst/>
          </a:prstGeom>
          <a:noFill/>
          <a:ln w="25400">
            <a:solidFill>
              <a:srgbClr val="2E719C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477000" y="3511748"/>
            <a:ext cx="2286000" cy="247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66"/>
              </a:lnSpc>
            </a:pPr>
            <a:r>
              <a:rPr lang="en-US" sz="156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Key Result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477000" y="3840956"/>
            <a:ext cx="2370047" cy="4191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30"/>
              </a:spcBef>
            </a:pP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Achieved an Out-of-Sample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AUC-ROC of 0.7055.</a:t>
            </a: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7215188" y="2662238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25475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0062" y="2898036"/>
            <a:ext cx="285750" cy="238125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048750" y="3019425"/>
            <a:ext cx="2667000" cy="2109788"/>
          </a:xfrm>
          <a:prstGeom prst="rect">
            <a:avLst/>
          </a:prstGeom>
          <a:noFill/>
          <a:ln w="25400">
            <a:solidFill>
              <a:srgbClr val="14558C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9334500" y="3511748"/>
            <a:ext cx="2286000" cy="247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66"/>
              </a:lnSpc>
            </a:pPr>
            <a:r>
              <a:rPr lang="en-US" sz="156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Projected Impact</a:t>
            </a: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9334500" y="3840956"/>
            <a:ext cx="2286000" cy="628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30"/>
              </a:spcBef>
            </a:pP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Anticipated Long-Short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Spread Alpha of +2.51%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Monthly.</a:t>
            </a:r>
            <a:endParaRPr lang="en-US" dirty="0"/>
          </a:p>
        </p:txBody>
      </p:sp>
      <p:sp>
        <p:nvSpPr>
          <p:cNvPr id="21" name="Shape 16"/>
          <p:cNvSpPr/>
          <p:nvPr/>
        </p:nvSpPr>
        <p:spPr>
          <a:xfrm>
            <a:off x="10072688" y="2662238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E3A5F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562" y="2898036"/>
            <a:ext cx="285750" cy="238125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0" y="6162675"/>
            <a:ext cx="12192000" cy="695325"/>
          </a:xfrm>
          <a:prstGeom prst="rect">
            <a:avLst/>
          </a:prstGeom>
          <a:solidFill>
            <a:srgbClr val="F5F5F5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1404938" y="6401544"/>
            <a:ext cx="9382125" cy="2095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663"/>
              </a:lnSpc>
            </a:pPr>
            <a:r>
              <a:rPr lang="en-US" sz="132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Achieved an Out-of-Sample AUC-ROC of 0.7055, projecting a Long-Short Spread Alpha of +2.51% Monthly.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/>
          <p:cNvSpPr/>
          <p:nvPr/>
        </p:nvSpPr>
        <p:spPr>
          <a:xfrm>
            <a:off x="-260779" y="303331"/>
            <a:ext cx="13094558" cy="2764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spc="-113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Business Problem: Asset Allocation</a:t>
            </a:r>
            <a:br>
              <a:rPr lang="en-US" sz="4800" kern="1200" spc="-113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800" kern="1200" spc="-113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&amp; Screening</a:t>
            </a: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66912" y="5645150"/>
            <a:ext cx="8258176" cy="631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 Distributed ML Rank Stocks Cross-Sectionally?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952500" y="3535561"/>
            <a:ext cx="5048250" cy="152102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1966"/>
              </a:lnSpc>
              <a:buSzPct val="100000"/>
              <a:buChar char="•"/>
            </a:pPr>
            <a:r>
              <a:rPr lang="en-US" sz="156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Inaccurate Return Predictions</a:t>
            </a:r>
            <a:endParaRPr lang="en-US" dirty="0"/>
          </a:p>
          <a:p>
            <a:pPr marL="241300" lvl="1" indent="0" algn="l">
              <a:lnSpc>
                <a:spcPts val="1680"/>
              </a:lnSpc>
              <a:spcBef>
                <a:spcPts val="483"/>
              </a:spcBef>
              <a:buNone/>
            </a:pP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Predicting absolute stock returns is notoriously inaccurate.</a:t>
            </a:r>
            <a:endParaRPr lang="en-US" dirty="0"/>
          </a:p>
          <a:p>
            <a:pPr marL="241300" indent="-241300" algn="l">
              <a:lnSpc>
                <a:spcPts val="1966"/>
              </a:lnSpc>
              <a:spcBef>
                <a:spcPts val="2100"/>
              </a:spcBef>
              <a:buSzPct val="100000"/>
              <a:buChar char="•"/>
            </a:pPr>
            <a:r>
              <a:rPr lang="en-US" sz="156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Objective</a:t>
            </a:r>
            <a:endParaRPr lang="en-US" dirty="0"/>
          </a:p>
          <a:p>
            <a:pPr marL="241300" lvl="1" indent="0" algn="l">
              <a:lnSpc>
                <a:spcPts val="1680"/>
              </a:lnSpc>
              <a:spcBef>
                <a:spcPts val="483"/>
              </a:spcBef>
              <a:buNone/>
            </a:pP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To determine if distributed ML can rank stocks cross-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sectionally to identify the top 10% of monthly performers.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0" y="3535561"/>
            <a:ext cx="5169710" cy="72925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1966"/>
              </a:lnSpc>
              <a:buSzPct val="100000"/>
              <a:buChar char="•"/>
            </a:pPr>
            <a:r>
              <a:rPr lang="en-US" sz="156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Evaluation Metrics</a:t>
            </a:r>
            <a:endParaRPr lang="en-US" dirty="0"/>
          </a:p>
          <a:p>
            <a:pPr marL="241300" lvl="1" indent="0" algn="l">
              <a:lnSpc>
                <a:spcPts val="1680"/>
              </a:lnSpc>
              <a:spcBef>
                <a:spcPts val="483"/>
              </a:spcBef>
              <a:buNone/>
            </a:pP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Assessed using over 1.02 Million panel observations spanning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20 years.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6238"/>
            <a:ext cx="11334750" cy="533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00"/>
              </a:lnSpc>
            </a:pPr>
            <a:r>
              <a:rPr lang="en-US" sz="3750" kern="0" spc="-113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Robust Big Data Architecture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0" y="2838450"/>
            <a:ext cx="3619500" cy="1938338"/>
          </a:xfrm>
          <a:prstGeom prst="rect">
            <a:avLst/>
          </a:prstGeom>
          <a:noFill/>
          <a:ln w="25400">
            <a:solidFill>
              <a:srgbClr val="62A8BB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2000" y="3330773"/>
            <a:ext cx="3238500" cy="247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66"/>
              </a:lnSpc>
            </a:pPr>
            <a:r>
              <a:rPr lang="en-US" sz="156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Secure Timestamp Mapping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659981"/>
            <a:ext cx="3238500" cy="628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30"/>
              </a:spcBef>
            </a:pP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Bypassed native Parquet timestamp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crashes using PyArrow for explicit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schema extraction.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976438" y="2481263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790A3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120" y="2729619"/>
            <a:ext cx="295275" cy="23812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86250" y="2838450"/>
            <a:ext cx="3619500" cy="1938338"/>
          </a:xfrm>
          <a:prstGeom prst="rect">
            <a:avLst/>
          </a:prstGeom>
          <a:noFill/>
          <a:ln w="25400">
            <a:solidFill>
              <a:srgbClr val="3B7FA4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0" y="3330773"/>
            <a:ext cx="3238500" cy="247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66"/>
              </a:lnSpc>
            </a:pPr>
            <a:r>
              <a:rPr lang="en-US" sz="156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SQL Deduplication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572000" y="3659981"/>
            <a:ext cx="3238500" cy="4191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30"/>
              </a:spcBef>
            </a:pP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Used Spark SQL CTEs with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ROW_NUMBER() for uniqueness.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5786438" y="2481263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E627E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753" y="2704504"/>
            <a:ext cx="304800" cy="27622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096250" y="2838450"/>
            <a:ext cx="3619500" cy="1938338"/>
          </a:xfrm>
          <a:prstGeom prst="rect">
            <a:avLst/>
          </a:prstGeom>
          <a:noFill/>
          <a:ln w="25400">
            <a:solidFill>
              <a:srgbClr val="14558C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8382000" y="3330773"/>
            <a:ext cx="3238500" cy="4953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66"/>
              </a:lnSpc>
            </a:pPr>
            <a:r>
              <a:rPr lang="en-US" sz="156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Dynamic Performance</a:t>
            </a:r>
            <a:br>
              <a:rPr lang="en-US" sz="156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</a:br>
            <a:r>
              <a:rPr lang="en-US" sz="156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Labeling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8382000" y="3907631"/>
            <a:ext cx="3337942" cy="628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30"/>
              </a:spcBef>
            </a:pP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Leveraged Spark Windowing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(percent_rank) to dynamically label top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10% performers.</a:t>
            </a: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9596438" y="2481263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E3A5F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1312" y="2717061"/>
            <a:ext cx="285750" cy="238125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0" y="6162675"/>
            <a:ext cx="12192000" cy="695325"/>
          </a:xfrm>
          <a:prstGeom prst="rect">
            <a:avLst/>
          </a:prstGeom>
          <a:solidFill>
            <a:srgbClr val="F5F5F5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2876550" y="6401544"/>
            <a:ext cx="6438900" cy="2095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663"/>
              </a:lnSpc>
            </a:pPr>
            <a:r>
              <a:rPr lang="en-US" sz="132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 persisted to Unity Catalog as an optimized Managed Delta Table.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6238"/>
            <a:ext cx="11334750" cy="533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00"/>
              </a:lnSpc>
            </a:pPr>
            <a:r>
              <a:rPr lang="en-US" sz="3750" kern="0" spc="-113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Phase 3: EDA &amp; Key Insights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36588"/>
            <a:ext cx="11334750" cy="2286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48"/>
              </a:lnSpc>
              <a:spcBef>
                <a:spcPts val="980"/>
              </a:spcBef>
            </a:pPr>
            <a:r>
              <a:rPr lang="en-US" sz="132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Exploratory Data Analysis &amp; Key Insights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3262313"/>
            <a:ext cx="3619500" cy="1900238"/>
          </a:xfrm>
          <a:prstGeom prst="rect">
            <a:avLst/>
          </a:prstGeom>
          <a:noFill/>
          <a:ln w="25400">
            <a:solidFill>
              <a:srgbClr val="62A8BB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2000" y="3754636"/>
            <a:ext cx="3238500" cy="247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66"/>
              </a:lnSpc>
            </a:pPr>
            <a:r>
              <a:rPr lang="en-US" sz="156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Signal Variance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4083844"/>
            <a:ext cx="3446909" cy="628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30"/>
              </a:spcBef>
            </a:pP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A 5% Pandas sample indicated that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Alpha Winners exhibit statistically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significant higher 12-month momentum.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976438" y="290512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790A3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312" y="3140924"/>
            <a:ext cx="285750" cy="2381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86250" y="3262313"/>
            <a:ext cx="3619500" cy="1900238"/>
          </a:xfrm>
          <a:prstGeom prst="rect">
            <a:avLst/>
          </a:prstGeom>
          <a:noFill/>
          <a:ln w="25400">
            <a:solidFill>
              <a:srgbClr val="3B7FA4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0" y="3754636"/>
            <a:ext cx="3238500" cy="247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66"/>
              </a:lnSpc>
            </a:pPr>
            <a:r>
              <a:rPr lang="en-US" sz="156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Multicollinearity Risk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72000" y="4083844"/>
            <a:ext cx="3400574" cy="628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30"/>
              </a:spcBef>
            </a:pP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The correlation matrix revealed extreme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collinearity (greater than 0.80) among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macro indicators.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786438" y="290512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E627E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312" y="3140924"/>
            <a:ext cx="285750" cy="23812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96250" y="3262313"/>
            <a:ext cx="3619500" cy="1900238"/>
          </a:xfrm>
          <a:prstGeom prst="rect">
            <a:avLst/>
          </a:prstGeom>
          <a:noFill/>
          <a:ln w="25400">
            <a:solidFill>
              <a:srgbClr val="14558C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8382000" y="3754636"/>
            <a:ext cx="3238500" cy="247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66"/>
              </a:lnSpc>
            </a:pPr>
            <a:r>
              <a:rPr lang="en-US" sz="156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Algorithm Choice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8382000" y="4083844"/>
            <a:ext cx="3246045" cy="8382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30"/>
              </a:spcBef>
            </a:pP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High collinearity among macro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indicators necessitates the use of tree-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based ensembles (GBT) over standard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OLS regression.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9596438" y="290512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E3A5F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9684" y="3119993"/>
            <a:ext cx="26670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6238"/>
            <a:ext cx="11334750" cy="533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00"/>
              </a:lnSpc>
            </a:pPr>
            <a:r>
              <a:rPr lang="en-US" sz="3750" kern="0" spc="-113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Phase 4: Predictive Modeling Setup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50" y="1571625"/>
            <a:ext cx="4476750" cy="481012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A flowchart showing data processing steps including feature extraction, scaling, and model training."/>
          <p:cNvPicPr>
            <a:picLocks noChangeAspect="1"/>
          </p:cNvPicPr>
          <p:nvPr/>
        </p:nvPicPr>
        <p:blipFill>
          <a:blip r:embed="rId3"/>
          <a:srcRect t="12406" b="12406"/>
          <a:stretch/>
        </p:blipFill>
        <p:spPr>
          <a:xfrm>
            <a:off x="476250" y="1571625"/>
            <a:ext cx="4476750" cy="48101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29250" y="2211586"/>
            <a:ext cx="6471894" cy="35236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marL="241300" indent="-241300" algn="l">
              <a:lnSpc>
                <a:spcPts val="1966"/>
              </a:lnSpc>
              <a:buSzPct val="100000"/>
              <a:buChar char="•"/>
            </a:pPr>
            <a:r>
              <a:rPr lang="en-US" sz="156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Dynamic Feature Engineering</a:t>
            </a:r>
            <a:endParaRPr lang="en-US" dirty="0"/>
          </a:p>
          <a:p>
            <a:pPr marL="241300" lvl="1" indent="0" algn="l">
              <a:lnSpc>
                <a:spcPts val="1680"/>
              </a:lnSpc>
              <a:spcBef>
                <a:spcPts val="483"/>
              </a:spcBef>
              <a:buNone/>
            </a:pP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Extracted 102 continuous features, applying StringIndexer and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OneHotEncoder.</a:t>
            </a:r>
            <a:endParaRPr lang="en-US" dirty="0"/>
          </a:p>
          <a:p>
            <a:pPr marL="241300" indent="-241300" algn="l">
              <a:lnSpc>
                <a:spcPts val="1966"/>
              </a:lnSpc>
              <a:spcBef>
                <a:spcPts val="2100"/>
              </a:spcBef>
              <a:buSzPct val="100000"/>
              <a:buChar char="•"/>
            </a:pPr>
            <a:r>
              <a:rPr lang="en-US" sz="156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Numerical Stability</a:t>
            </a:r>
            <a:endParaRPr lang="en-US" dirty="0"/>
          </a:p>
          <a:p>
            <a:pPr marL="241300" lvl="1" indent="0" algn="l">
              <a:lnSpc>
                <a:spcPts val="1680"/>
              </a:lnSpc>
              <a:spcBef>
                <a:spcPts val="483"/>
              </a:spcBef>
              <a:buNone/>
            </a:pP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Applied StandardScaler to normalize financial ratios.</a:t>
            </a:r>
            <a:endParaRPr lang="en-US" dirty="0"/>
          </a:p>
          <a:p>
            <a:pPr marL="241300" indent="-241300" algn="l">
              <a:lnSpc>
                <a:spcPts val="1966"/>
              </a:lnSpc>
              <a:spcBef>
                <a:spcPts val="2100"/>
              </a:spcBef>
              <a:buSzPct val="100000"/>
              <a:buChar char="•"/>
            </a:pPr>
            <a:r>
              <a:rPr lang="en-US" sz="156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Chronological Split</a:t>
            </a:r>
            <a:endParaRPr lang="en-US" dirty="0"/>
          </a:p>
          <a:p>
            <a:pPr marL="241300" lvl="1" indent="0" algn="l">
              <a:lnSpc>
                <a:spcPts val="1680"/>
              </a:lnSpc>
              <a:spcBef>
                <a:spcPts val="483"/>
              </a:spcBef>
              <a:buNone/>
            </a:pP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Eliminated look-ahead bias with a chronological split (Train: 2000-2017 | Test: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2018-2021).</a:t>
            </a:r>
            <a:endParaRPr lang="en-US" dirty="0"/>
          </a:p>
          <a:p>
            <a:pPr marL="241300" indent="-241300" algn="l">
              <a:lnSpc>
                <a:spcPts val="1966"/>
              </a:lnSpc>
              <a:spcBef>
                <a:spcPts val="2100"/>
              </a:spcBef>
              <a:buSzPct val="100000"/>
              <a:buChar char="•"/>
            </a:pPr>
            <a:r>
              <a:rPr lang="en-US" sz="156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Pipeline Deployment</a:t>
            </a:r>
            <a:endParaRPr lang="en-US" dirty="0"/>
          </a:p>
          <a:p>
            <a:pPr marL="241300" lvl="1" indent="0" algn="l">
              <a:lnSpc>
                <a:spcPts val="1680"/>
              </a:lnSpc>
              <a:spcBef>
                <a:spcPts val="483"/>
              </a:spcBef>
              <a:buNone/>
            </a:pP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Deployed Gradient Boosted Trees (GBTClassifier) optimized via 3-fold Cross-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Validation.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6238"/>
            <a:ext cx="11334750" cy="533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00"/>
              </a:lnSpc>
            </a:pPr>
            <a:r>
              <a:rPr lang="en-US" sz="3750" kern="0" spc="-113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Phase 5: MLOps &amp; Experiment Tracking</a:t>
            </a: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428" y="2843361"/>
            <a:ext cx="866775" cy="8667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9575" y="4084796"/>
            <a:ext cx="3562350" cy="2286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MLOps Integration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87884" y="4399270"/>
            <a:ext cx="3805732" cy="8382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</a:pP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Leveraged Databricks MLflow to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meticulously track distributed training loops,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ensuring reproducibility and efficient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experimentation.</a:t>
            </a:r>
            <a:endParaRPr lang="en-US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5326" y="2888006"/>
            <a:ext cx="771525" cy="7715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29113" y="4084796"/>
            <a:ext cx="3533775" cy="2286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Explainable AI (XAI)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4208582" y="4399270"/>
            <a:ext cx="3774837" cy="8382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</a:pP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Integrated XAI by logging key driving factors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(Momentum, Market Beta, Earnings Yield) to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demystify model predictions beyond 'black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box' solutions.</a:t>
            </a:r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0117" y="2832205"/>
            <a:ext cx="971550" cy="904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39510" y="4084796"/>
            <a:ext cx="3523479" cy="2286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Artifact Persistence &amp; Deployment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8226343" y="4399270"/>
            <a:ext cx="3549814" cy="8382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  <a:spcBef>
                <a:spcPts val="663"/>
              </a:spcBef>
            </a:pP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Utilized MLflow Model Registry with Unity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Catalog Volumes to serialize the tuned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PipelineModel for seamless, one-click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deployment.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6238"/>
            <a:ext cx="11334750" cy="533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00"/>
              </a:lnSpc>
            </a:pPr>
            <a:r>
              <a:rPr lang="en-US" sz="3750" kern="0" spc="-113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Projected Economic Value Generation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36588"/>
            <a:ext cx="11334750" cy="2286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48"/>
              </a:lnSpc>
              <a:spcBef>
                <a:spcPts val="980"/>
              </a:spcBef>
            </a:pPr>
            <a:r>
              <a:rPr lang="en-US" sz="132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Phase 6: Economic Value Generation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72" y="2100263"/>
            <a:ext cx="2381250" cy="238125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2100263"/>
            <a:ext cx="314325" cy="1047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14450" y="3024188"/>
            <a:ext cx="1943100" cy="533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4200"/>
              </a:lnSpc>
            </a:pPr>
            <a:r>
              <a:rPr lang="en-US" sz="3750" kern="0" spc="-113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3%</a:t>
            </a: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1047750" y="4620816"/>
            <a:ext cx="2476500" cy="6858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Decile 1 (Highest</a:t>
            </a:r>
            <a:br>
              <a:rPr lang="en-US" sz="144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</a:br>
            <a:r>
              <a:rPr lang="en-US" sz="144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Confidence) Monthly</a:t>
            </a:r>
            <a:br>
              <a:rPr lang="en-US" sz="144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</a:br>
            <a:r>
              <a:rPr lang="en-US" sz="144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Yield</a:t>
            </a:r>
            <a:endParaRPr lang="en-US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5772" y="2100263"/>
            <a:ext cx="2381250" cy="238125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7900" y="2100263"/>
            <a:ext cx="133350" cy="8572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124450" y="3024188"/>
            <a:ext cx="1943100" cy="533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4200"/>
              </a:lnSpc>
            </a:pPr>
            <a:r>
              <a:rPr lang="en-US" sz="3750" kern="0" spc="-113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1%</a:t>
            </a:r>
            <a:endParaRPr lang="en-US" dirty="0"/>
          </a:p>
        </p:txBody>
      </p:sp>
      <p:sp>
        <p:nvSpPr>
          <p:cNvPr id="11" name="Text 5"/>
          <p:cNvSpPr/>
          <p:nvPr/>
        </p:nvSpPr>
        <p:spPr>
          <a:xfrm>
            <a:off x="4857750" y="4620816"/>
            <a:ext cx="2476500" cy="6858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Decile 10 (Lowest</a:t>
            </a:r>
            <a:br>
              <a:rPr lang="en-US" sz="144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</a:br>
            <a:r>
              <a:rPr lang="en-US" sz="144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Confidence) Monthly</a:t>
            </a:r>
            <a:br>
              <a:rPr lang="en-US" sz="144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</a:br>
            <a:r>
              <a:rPr lang="en-US" sz="144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Yield</a:t>
            </a:r>
            <a:endParaRPr lang="en-US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5772" y="2100263"/>
            <a:ext cx="2381250" cy="2381250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7900" y="2100263"/>
            <a:ext cx="257175" cy="9525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934450" y="3024188"/>
            <a:ext cx="1943100" cy="533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4200"/>
              </a:lnSpc>
            </a:pPr>
            <a:r>
              <a:rPr lang="en-US" sz="3750" kern="0" spc="-113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3%</a:t>
            </a:r>
            <a:endParaRPr lang="en-US" dirty="0"/>
          </a:p>
        </p:txBody>
      </p:sp>
      <p:sp>
        <p:nvSpPr>
          <p:cNvPr id="15" name="Text 7"/>
          <p:cNvSpPr/>
          <p:nvPr/>
        </p:nvSpPr>
        <p:spPr>
          <a:xfrm>
            <a:off x="8667750" y="4620816"/>
            <a:ext cx="2476500" cy="6858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14"/>
              </a:lnSpc>
            </a:pPr>
            <a:r>
              <a:rPr lang="en-US" sz="144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Market-Neutral Long-</a:t>
            </a:r>
            <a:br>
              <a:rPr lang="en-US" sz="144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</a:br>
            <a:r>
              <a:rPr lang="en-US" sz="144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Short Portfolio Spread</a:t>
            </a:r>
            <a:br>
              <a:rPr lang="en-US" sz="144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</a:br>
            <a:r>
              <a:rPr lang="en-US" sz="144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(Decile 1 - Decile 10)</a:t>
            </a:r>
            <a:endParaRPr lang="en-US" dirty="0"/>
          </a:p>
        </p:txBody>
      </p:sp>
      <p:sp>
        <p:nvSpPr>
          <p:cNvPr id="16" name="Shape 8"/>
          <p:cNvSpPr/>
          <p:nvPr/>
        </p:nvSpPr>
        <p:spPr>
          <a:xfrm>
            <a:off x="0" y="6162675"/>
            <a:ext cx="12192000" cy="695325"/>
          </a:xfrm>
          <a:prstGeom prst="rect">
            <a:avLst/>
          </a:prstGeom>
          <a:solidFill>
            <a:srgbClr val="F5F5F5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9"/>
          <p:cNvSpPr/>
          <p:nvPr/>
        </p:nvSpPr>
        <p:spPr>
          <a:xfrm>
            <a:off x="1247775" y="6401544"/>
            <a:ext cx="9696450" cy="2095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663"/>
              </a:lnSpc>
            </a:pPr>
            <a:r>
              <a:rPr lang="en-US" sz="132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 market-neutral strategy aims to capture the spread between the highest and lowest confidence deciles.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6238"/>
            <a:ext cx="11334750" cy="533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00"/>
              </a:lnSpc>
            </a:pPr>
            <a:r>
              <a:rPr lang="en-US" sz="3750" kern="0" spc="-113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High-Conviction Institutional Strategy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36588"/>
            <a:ext cx="11334750" cy="2286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48"/>
              </a:lnSpc>
              <a:spcBef>
                <a:spcPts val="980"/>
              </a:spcBef>
            </a:pPr>
            <a:r>
              <a:rPr lang="en-US" sz="132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Phase 6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685925"/>
            <a:ext cx="3651250" cy="4000500"/>
          </a:xfrm>
          <a:prstGeom prst="rect">
            <a:avLst/>
          </a:prstGeom>
          <a:solidFill>
            <a:srgbClr val="F5F5F5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2000" y="3183731"/>
            <a:ext cx="3191828" cy="8286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6563"/>
              </a:lnSpc>
            </a:pPr>
            <a:r>
              <a:rPr lang="en-US" sz="7500" kern="0" spc="-375" dirty="0">
                <a:solidFill>
                  <a:srgbClr val="2A2921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28.19%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" y="5339060"/>
            <a:ext cx="1884121" cy="1905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512"/>
              </a:lnSpc>
            </a:pPr>
            <a:r>
              <a:rPr lang="en-US" sz="1200" dirty="0">
                <a:solidFill>
                  <a:srgbClr val="5A5A4C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Model Top 1% Hit-Rate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6750" y="1833860"/>
            <a:ext cx="3365450" cy="1905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512"/>
              </a:lnSpc>
            </a:pPr>
            <a:r>
              <a:rPr lang="en-US" sz="120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Top 1% Probability Scores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270375" y="1685925"/>
            <a:ext cx="3651250" cy="4000500"/>
          </a:xfrm>
          <a:prstGeom prst="rect">
            <a:avLst/>
          </a:prstGeom>
          <a:solidFill>
            <a:srgbClr val="F5F5F5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56125" y="3183731"/>
            <a:ext cx="2517458" cy="8286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6563"/>
              </a:lnSpc>
            </a:pPr>
            <a:r>
              <a:rPr lang="en-US" sz="7500" kern="0" spc="-375" dirty="0">
                <a:solidFill>
                  <a:srgbClr val="2A2921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2.82x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60875" y="1833860"/>
            <a:ext cx="3365450" cy="1905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512"/>
              </a:lnSpc>
            </a:pPr>
            <a:r>
              <a:rPr lang="en-US" sz="120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Alpha Selectivity Edge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064500" y="1685925"/>
            <a:ext cx="3651250" cy="4000500"/>
          </a:xfrm>
          <a:prstGeom prst="rect">
            <a:avLst/>
          </a:prstGeom>
          <a:solidFill>
            <a:srgbClr val="F5F5F5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50250" y="3183731"/>
            <a:ext cx="3026093" cy="8286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6563"/>
              </a:lnSpc>
            </a:pPr>
            <a:r>
              <a:rPr lang="en-US" sz="7500" kern="0" spc="-375" dirty="0">
                <a:solidFill>
                  <a:srgbClr val="2A2921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10.01%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55000" y="5339060"/>
            <a:ext cx="1974533" cy="1905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512"/>
              </a:lnSpc>
            </a:pPr>
            <a:r>
              <a:rPr lang="en-US" sz="1200" dirty="0">
                <a:solidFill>
                  <a:srgbClr val="5A5A4C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Top Decile Winner Pick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55000" y="1833860"/>
            <a:ext cx="3365450" cy="1905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512"/>
              </a:lnSpc>
            </a:pPr>
            <a:r>
              <a:rPr lang="en-US" sz="120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Baseline Market Probability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0" y="6162675"/>
            <a:ext cx="12192000" cy="695325"/>
          </a:xfrm>
          <a:prstGeom prst="rect">
            <a:avLst/>
          </a:prstGeom>
          <a:solidFill>
            <a:srgbClr val="F5F5F5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47507" y="6401544"/>
            <a:ext cx="4296987" cy="2095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663"/>
              </a:lnSpc>
            </a:pPr>
            <a:r>
              <a:rPr lang="en-US" sz="132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This represents a 2.82x Alpha Selectivity Edge.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6238"/>
            <a:ext cx="11334750" cy="533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4200"/>
              </a:lnSpc>
            </a:pPr>
            <a:r>
              <a:rPr lang="en-US" sz="3750" kern="0" spc="-113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Addressing Challenges &amp; Concept Drift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1036588"/>
            <a:ext cx="11334750" cy="2286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ctr">
              <a:lnSpc>
                <a:spcPts val="1848"/>
              </a:lnSpc>
              <a:spcBef>
                <a:spcPts val="980"/>
              </a:spcBef>
            </a:pPr>
            <a:r>
              <a:rPr lang="en-US" sz="132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Phase 6: Challenges &amp; Concept Drift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3019425"/>
            <a:ext cx="3619500" cy="1690688"/>
          </a:xfrm>
          <a:prstGeom prst="rect">
            <a:avLst/>
          </a:prstGeom>
          <a:noFill/>
          <a:ln w="25400">
            <a:solidFill>
              <a:srgbClr val="62A8BB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2000" y="3511748"/>
            <a:ext cx="3238500" cy="247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66"/>
              </a:lnSpc>
            </a:pPr>
            <a:r>
              <a:rPr lang="en-US" sz="156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Financial Non-Stationarity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3840956"/>
            <a:ext cx="3238500" cy="4191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30"/>
              </a:spcBef>
            </a:pP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Tree-based models are susceptible to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decay in new economic regimes.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976438" y="2662238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790A3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448" y="2864554"/>
            <a:ext cx="381000" cy="30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86250" y="3019425"/>
            <a:ext cx="3619500" cy="1690688"/>
          </a:xfrm>
          <a:prstGeom prst="rect">
            <a:avLst/>
          </a:prstGeom>
          <a:noFill/>
          <a:ln w="25400">
            <a:solidFill>
              <a:srgbClr val="3B7FA4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0" y="3511748"/>
            <a:ext cx="3335259" cy="247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66"/>
              </a:lnSpc>
            </a:pPr>
            <a:r>
              <a:rPr lang="en-US" sz="156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Programmatic Drift Detection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72000" y="3840956"/>
            <a:ext cx="3351962" cy="628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30"/>
              </a:spcBef>
            </a:pP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Out-of-sample testing revealed a -1.43%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shift in average Dividend-Price ratios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post-2020.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786438" y="2662238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E627E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379" y="2856179"/>
            <a:ext cx="323850" cy="32385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96250" y="3019425"/>
            <a:ext cx="3619500" cy="1690688"/>
          </a:xfrm>
          <a:prstGeom prst="rect">
            <a:avLst/>
          </a:prstGeom>
          <a:noFill/>
          <a:ln w="25400">
            <a:solidFill>
              <a:srgbClr val="14558C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8382000" y="3511748"/>
            <a:ext cx="3238500" cy="247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966"/>
              </a:lnSpc>
            </a:pPr>
            <a:r>
              <a:rPr lang="en-US" sz="156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Future Improvement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8382000" y="3840956"/>
            <a:ext cx="3359276" cy="6286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680"/>
              </a:lnSpc>
              <a:spcBef>
                <a:spcPts val="630"/>
              </a:spcBef>
            </a:pP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Implement automated KS Feature Drift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Triggers for automatic retraining when</a:t>
            </a:r>
            <a:b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</a:br>
            <a:r>
              <a:rPr lang="en-US" sz="120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macro thresholds are breached.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9596438" y="2662238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E3A5F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0380" y="2885441"/>
            <a:ext cx="333375" cy="2667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0" y="6162675"/>
            <a:ext cx="12192000" cy="695325"/>
          </a:xfrm>
          <a:prstGeom prst="rect">
            <a:avLst/>
          </a:prstGeom>
          <a:solidFill>
            <a:srgbClr val="F5F5F5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1133475" y="6401544"/>
            <a:ext cx="9925050" cy="20955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ctr">
              <a:lnSpc>
                <a:spcPts val="1663"/>
              </a:lnSpc>
            </a:pPr>
            <a:r>
              <a:rPr lang="en-US" sz="132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Implement automated KS Feature Drift Triggers for automatic retraining when macro thresholds are breached.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2828925"/>
            <a:ext cx="3221831" cy="5334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algn="l">
              <a:lnSpc>
                <a:spcPts val="4200"/>
              </a:lnSpc>
            </a:pPr>
            <a:r>
              <a:rPr lang="en-US" sz="3750" kern="0" spc="-113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THANK YOU!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F5F5F5"/>
          </a:solidFill>
          <a:ln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693D75C-E4F0-DD33-EF17-FB6E427A5620}"/>
              </a:ext>
            </a:extLst>
          </p:cNvPr>
          <p:cNvSpPr/>
          <p:nvPr/>
        </p:nvSpPr>
        <p:spPr>
          <a:xfrm>
            <a:off x="374929" y="6334125"/>
            <a:ext cx="3851908" cy="19050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512"/>
              </a:lnSpc>
            </a:pPr>
            <a:r>
              <a:rPr lang="en-US" sz="1200" dirty="0">
                <a:solidFill>
                  <a:srgbClr val="2A292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Big Data Analytics &amp; MLOps using Hive/Spark</a:t>
            </a:r>
            <a:endParaRPr lang="en-US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3C4A1F22-3612-924C-6020-91A2EC62C30C}"/>
              </a:ext>
            </a:extLst>
          </p:cNvPr>
          <p:cNvSpPr/>
          <p:nvPr/>
        </p:nvSpPr>
        <p:spPr>
          <a:xfrm>
            <a:off x="374929" y="6577012"/>
            <a:ext cx="3600450" cy="1809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algn="l">
              <a:lnSpc>
                <a:spcPts val="1428"/>
              </a:lnSpc>
              <a:spcBef>
                <a:spcPts val="791"/>
              </a:spcBef>
            </a:pPr>
            <a:r>
              <a:rPr lang="en-US" sz="1020" dirty="0">
                <a:solidFill>
                  <a:srgbClr val="5A5A4C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Final Project Presentation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88E2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688</Words>
  <Application>Microsoft Macintosh PowerPoint</Application>
  <PresentationFormat>Widescreen</PresentationFormat>
  <Paragraphs>97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Montserrat Medium</vt:lpstr>
      <vt:lpstr>Montserrat Regular</vt:lpstr>
      <vt:lpstr>Montserrat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Targeting Alpha Big Data &amp; Machine Learning for Stock Selection</dc:title>
  <dc:subject>Targeting Alpha Big Data &amp; Machine Learning for Stock Selection</dc:subject>
  <dc:creator>Shiv Raj Bangad</dc:creator>
  <cp:lastModifiedBy>Shiv Raj Bangad</cp:lastModifiedBy>
  <cp:revision>4</cp:revision>
  <dcterms:created xsi:type="dcterms:W3CDTF">2026-03-05T19:19:47Z</dcterms:created>
  <dcterms:modified xsi:type="dcterms:W3CDTF">2026-03-05T19:30:45Z</dcterms:modified>
</cp:coreProperties>
</file>